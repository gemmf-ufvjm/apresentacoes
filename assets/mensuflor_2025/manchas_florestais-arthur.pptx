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</p:sldIdLst>
  <p:sldSz cx="32397700" cy="43192700"/>
  <p:notesSz cx="6858000" cy="9144000"/>
  <p:embeddedFontLst>
    <p:embeddedFont>
      <p:font typeface="Roboto Condensed Bold" panose="02000000000000000000"/>
      <p:bold r:id="rId7"/>
    </p:embeddedFont>
    <p:embeddedFont>
      <p:font typeface="Arial Bold" panose="020B0704020202020204"/>
      <p:bold r:id="rId8"/>
    </p:embeddedFont>
    <p:embeddedFont>
      <p:font typeface="Calibri" panose="020F050202020403020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tags" Target="../tags/tag1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973572" y="1526340"/>
            <a:ext cx="12452855" cy="3153920"/>
            <a:chOff x="0" y="0"/>
            <a:chExt cx="16603807" cy="42052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5622" cy="4205227"/>
            </a:xfrm>
            <a:custGeom>
              <a:avLst/>
              <a:gdLst/>
              <a:ahLst/>
              <a:cxnLst/>
              <a:rect l="l" t="t" r="r" b="b"/>
              <a:pathLst>
                <a:path w="3435622" h="4205227">
                  <a:moveTo>
                    <a:pt x="0" y="0"/>
                  </a:moveTo>
                  <a:lnTo>
                    <a:pt x="3435622" y="0"/>
                  </a:lnTo>
                  <a:lnTo>
                    <a:pt x="3435622" y="4205227"/>
                  </a:lnTo>
                  <a:lnTo>
                    <a:pt x="0" y="4205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86392" t="-426" r="-86387" b="-4693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4103909" y="3033832"/>
              <a:ext cx="12499898" cy="746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55"/>
                </a:lnSpc>
              </a:pPr>
              <a:r>
                <a:rPr lang="en-US" sz="3325" b="1" spc="398">
                  <a:solidFill>
                    <a:srgbClr val="734221"/>
                  </a:solidFill>
                  <a:latin typeface="Roboto Condensed Bold" panose="02000000000000000000"/>
                  <a:ea typeface="Roboto Condensed Bold" panose="02000000000000000000"/>
                  <a:cs typeface="Roboto Condensed Bold" panose="02000000000000000000"/>
                  <a:sym typeface="Roboto Condensed Bold" panose="02000000000000000000"/>
                </a:rPr>
                <a:t>UNIVERSIDADE FEDERAL DE LAVRAS - UFLA</a:t>
              </a:r>
              <a:endParaRPr lang="en-US" sz="3325" b="1" spc="398">
                <a:solidFill>
                  <a:srgbClr val="734221"/>
                </a:solidFill>
                <a:latin typeface="Roboto Condensed Bold" panose="02000000000000000000"/>
                <a:ea typeface="Roboto Condensed Bold" panose="02000000000000000000"/>
                <a:cs typeface="Roboto Condensed Bold" panose="02000000000000000000"/>
                <a:sym typeface="Roboto Condensed Bold" panose="02000000000000000000"/>
              </a:endParaRPr>
            </a:p>
          </p:txBody>
        </p:sp>
        <p:sp>
          <p:nvSpPr>
            <p:cNvPr id="5" name="Freeform 5"/>
            <p:cNvSpPr/>
            <p:nvPr/>
          </p:nvSpPr>
          <p:spPr>
            <a:xfrm>
              <a:off x="3875818" y="425184"/>
              <a:ext cx="12666160" cy="2472861"/>
            </a:xfrm>
            <a:custGeom>
              <a:avLst/>
              <a:gdLst/>
              <a:ahLst/>
              <a:cxnLst/>
              <a:rect l="l" t="t" r="r" b="b"/>
              <a:pathLst>
                <a:path w="12666160" h="2472861">
                  <a:moveTo>
                    <a:pt x="0" y="0"/>
                  </a:moveTo>
                  <a:lnTo>
                    <a:pt x="12666160" y="0"/>
                  </a:lnTo>
                  <a:lnTo>
                    <a:pt x="12666160" y="2472860"/>
                  </a:lnTo>
                  <a:lnTo>
                    <a:pt x="0" y="2472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238696"/>
              </a:stretch>
            </a:blipFill>
          </p:spPr>
        </p:sp>
      </p:grpSp>
      <p:sp>
        <p:nvSpPr>
          <p:cNvPr id="6" name="AutoShape 6"/>
          <p:cNvSpPr/>
          <p:nvPr/>
        </p:nvSpPr>
        <p:spPr>
          <a:xfrm flipV="1">
            <a:off x="616585" y="4955540"/>
            <a:ext cx="31265495" cy="88265"/>
          </a:xfrm>
          <a:prstGeom prst="line">
            <a:avLst/>
          </a:prstGeom>
          <a:ln w="57150" cap="flat">
            <a:solidFill>
              <a:srgbClr val="7242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29533969" y="793782"/>
            <a:ext cx="3364047" cy="4117619"/>
          </a:xfrm>
          <a:custGeom>
            <a:avLst/>
            <a:gdLst/>
            <a:ahLst/>
            <a:cxnLst/>
            <a:rect l="l" t="t" r="r" b="b"/>
            <a:pathLst>
              <a:path w="3364047" h="4117619">
                <a:moveTo>
                  <a:pt x="0" y="0"/>
                </a:moveTo>
                <a:lnTo>
                  <a:pt x="3364047" y="0"/>
                </a:lnTo>
                <a:lnTo>
                  <a:pt x="3364047" y="4117618"/>
                </a:lnTo>
                <a:lnTo>
                  <a:pt x="0" y="411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-86392" t="-426" r="-86387" b="-4693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324026" y="717753"/>
            <a:ext cx="3376572" cy="4132949"/>
          </a:xfrm>
          <a:custGeom>
            <a:avLst/>
            <a:gdLst/>
            <a:ahLst/>
            <a:cxnLst/>
            <a:rect l="l" t="t" r="r" b="b"/>
            <a:pathLst>
              <a:path w="3376572" h="4132949">
                <a:moveTo>
                  <a:pt x="0" y="0"/>
                </a:moveTo>
                <a:lnTo>
                  <a:pt x="3376571" y="0"/>
                </a:lnTo>
                <a:lnTo>
                  <a:pt x="3376571" y="4132949"/>
                </a:lnTo>
                <a:lnTo>
                  <a:pt x="0" y="41329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-86392" t="-426" r="-86387" b="-46938"/>
            </a:stretch>
          </a:blipFill>
        </p:spPr>
      </p:sp>
      <p:grpSp>
        <p:nvGrpSpPr>
          <p:cNvPr id="9" name="Group 9"/>
          <p:cNvGrpSpPr/>
          <p:nvPr/>
        </p:nvGrpSpPr>
        <p:grpSpPr>
          <a:xfrm rot="0">
            <a:off x="-323609" y="-1025518"/>
            <a:ext cx="33047218" cy="3181653"/>
            <a:chOff x="0" y="0"/>
            <a:chExt cx="44062958" cy="4242204"/>
          </a:xfrm>
        </p:grpSpPr>
        <p:sp>
          <p:nvSpPr>
            <p:cNvPr id="10" name="Freeform 10"/>
            <p:cNvSpPr/>
            <p:nvPr/>
          </p:nvSpPr>
          <p:spPr>
            <a:xfrm>
              <a:off x="60904" y="0"/>
              <a:ext cx="24095717" cy="3855315"/>
            </a:xfrm>
            <a:custGeom>
              <a:avLst/>
              <a:gdLst/>
              <a:ahLst/>
              <a:cxnLst/>
              <a:rect l="l" t="t" r="r" b="b"/>
              <a:pathLst>
                <a:path w="24095717" h="3855315">
                  <a:moveTo>
                    <a:pt x="0" y="0"/>
                  </a:moveTo>
                  <a:lnTo>
                    <a:pt x="24095717" y="0"/>
                  </a:lnTo>
                  <a:lnTo>
                    <a:pt x="24095717" y="3855315"/>
                  </a:lnTo>
                  <a:lnTo>
                    <a:pt x="0" y="3855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>
              <a:off x="19967240" y="0"/>
              <a:ext cx="24095717" cy="3855315"/>
            </a:xfrm>
            <a:custGeom>
              <a:avLst/>
              <a:gdLst/>
              <a:ahLst/>
              <a:cxnLst/>
              <a:rect l="l" t="t" r="r" b="b"/>
              <a:pathLst>
                <a:path w="24095717" h="3855315">
                  <a:moveTo>
                    <a:pt x="24095718" y="0"/>
                  </a:moveTo>
                  <a:lnTo>
                    <a:pt x="0" y="0"/>
                  </a:lnTo>
                  <a:lnTo>
                    <a:pt x="0" y="3855315"/>
                  </a:lnTo>
                  <a:lnTo>
                    <a:pt x="24095718" y="3855315"/>
                  </a:lnTo>
                  <a:lnTo>
                    <a:pt x="24095718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1297195"/>
              <a:ext cx="20931549" cy="2945009"/>
            </a:xfrm>
            <a:custGeom>
              <a:avLst/>
              <a:gdLst/>
              <a:ahLst/>
              <a:cxnLst/>
              <a:rect l="l" t="t" r="r" b="b"/>
              <a:pathLst>
                <a:path w="20931549" h="2945009">
                  <a:moveTo>
                    <a:pt x="0" y="0"/>
                  </a:moveTo>
                  <a:lnTo>
                    <a:pt x="20931549" y="0"/>
                  </a:lnTo>
                  <a:lnTo>
                    <a:pt x="20931549" y="2945009"/>
                  </a:lnTo>
                  <a:lnTo>
                    <a:pt x="0" y="2945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350" r="-8448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flipH="1">
              <a:off x="23131408" y="1297195"/>
              <a:ext cx="20931549" cy="2945009"/>
            </a:xfrm>
            <a:custGeom>
              <a:avLst/>
              <a:gdLst/>
              <a:ahLst/>
              <a:cxnLst/>
              <a:rect l="l" t="t" r="r" b="b"/>
              <a:pathLst>
                <a:path w="20931549" h="2945009">
                  <a:moveTo>
                    <a:pt x="20931550" y="0"/>
                  </a:moveTo>
                  <a:lnTo>
                    <a:pt x="0" y="0"/>
                  </a:lnTo>
                  <a:lnTo>
                    <a:pt x="0" y="2945009"/>
                  </a:lnTo>
                  <a:lnTo>
                    <a:pt x="20931550" y="2945009"/>
                  </a:lnTo>
                  <a:lnTo>
                    <a:pt x="2093155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350" r="-8448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-27940" y="42703750"/>
            <a:ext cx="32628840" cy="591820"/>
            <a:chOff x="0" y="0"/>
            <a:chExt cx="46262816" cy="4053395"/>
          </a:xfrm>
        </p:grpSpPr>
        <p:sp>
          <p:nvSpPr>
            <p:cNvPr id="15" name="Freeform 15"/>
            <p:cNvSpPr/>
            <p:nvPr/>
          </p:nvSpPr>
          <p:spPr>
            <a:xfrm rot="-10800000">
              <a:off x="20929095" y="0"/>
              <a:ext cx="25333721" cy="4053395"/>
            </a:xfrm>
            <a:custGeom>
              <a:avLst/>
              <a:gdLst/>
              <a:ahLst/>
              <a:cxnLst/>
              <a:rect l="l" t="t" r="r" b="b"/>
              <a:pathLst>
                <a:path w="25333721" h="4053395">
                  <a:moveTo>
                    <a:pt x="0" y="0"/>
                  </a:moveTo>
                  <a:lnTo>
                    <a:pt x="25333721" y="0"/>
                  </a:lnTo>
                  <a:lnTo>
                    <a:pt x="25333721" y="4053395"/>
                  </a:lnTo>
                  <a:lnTo>
                    <a:pt x="0" y="4053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-10800000" flipH="1">
              <a:off x="0" y="0"/>
              <a:ext cx="25333721" cy="4053395"/>
            </a:xfrm>
            <a:custGeom>
              <a:avLst/>
              <a:gdLst/>
              <a:ahLst/>
              <a:cxnLst/>
              <a:rect l="l" t="t" r="r" b="b"/>
              <a:pathLst>
                <a:path w="25333721" h="4053395">
                  <a:moveTo>
                    <a:pt x="25333721" y="0"/>
                  </a:moveTo>
                  <a:lnTo>
                    <a:pt x="0" y="0"/>
                  </a:lnTo>
                  <a:lnTo>
                    <a:pt x="0" y="4053395"/>
                  </a:lnTo>
                  <a:lnTo>
                    <a:pt x="25333721" y="4053395"/>
                  </a:lnTo>
                  <a:lnTo>
                    <a:pt x="25333721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AutoShape 17"/>
          <p:cNvSpPr/>
          <p:nvPr/>
        </p:nvSpPr>
        <p:spPr>
          <a:xfrm flipV="1">
            <a:off x="505460" y="9986010"/>
            <a:ext cx="31463615" cy="38735"/>
          </a:xfrm>
          <a:prstGeom prst="line">
            <a:avLst/>
          </a:prstGeom>
          <a:ln w="57150" cap="flat">
            <a:solidFill>
              <a:srgbClr val="7242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616585" y="5137150"/>
            <a:ext cx="31352490" cy="241808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altLang="pt-BR" sz="6500" b="1" spc="83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DIFERENCIA</a:t>
            </a:r>
            <a:r>
              <a:rPr lang="en-US" altLang="en-US" sz="6500" b="1" spc="83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ÇÃ</a:t>
            </a:r>
            <a:r>
              <a:rPr lang="en-US" altLang="pt-BR" sz="6500" b="1" spc="83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O ESTRUTURAL DE MANCHAS FLORESTAIS POR M</a:t>
            </a:r>
            <a:r>
              <a:rPr lang="en-US" altLang="en-US" sz="6500" b="1" spc="83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É</a:t>
            </a:r>
            <a:r>
              <a:rPr lang="en-US" altLang="pt-BR" sz="6500" b="1" spc="83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TRICAS DE DOSSEL NA AMAZ</a:t>
            </a:r>
            <a:r>
              <a:rPr lang="en-US" altLang="en-US" sz="6500" b="1" spc="83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Ô</a:t>
            </a:r>
            <a:r>
              <a:rPr lang="en-US" altLang="pt-BR" sz="6500" b="1" spc="83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NIA CENTRAL </a:t>
            </a:r>
            <a:r>
              <a:rPr lang="en-US" sz="6500" b="1" spc="83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 </a:t>
            </a:r>
            <a:endParaRPr lang="en-US" sz="6500" b="1" spc="839">
              <a:solidFill>
                <a:srgbClr val="393939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05460" y="7468870"/>
            <a:ext cx="31496635" cy="2885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pt-BR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Artur Ferro de Souza</a:t>
            </a:r>
            <a:r>
              <a:rPr lang="en-US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¹</a:t>
            </a:r>
            <a:r>
              <a:rPr lang="pt-BR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*</a:t>
            </a:r>
            <a:r>
              <a:rPr lang="en-US" altLang="pt-BR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; Josiane Bruzinga</a:t>
            </a:r>
            <a:r>
              <a:rPr lang="en-US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¹</a:t>
            </a:r>
            <a:r>
              <a:rPr lang="en-US" altLang="pt-BR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; N</a:t>
            </a:r>
            <a:r>
              <a:rPr lang="en-US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í</a:t>
            </a:r>
            <a:r>
              <a:rPr lang="en-US" altLang="pt-BR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vea Maria Mafra Rodrigues</a:t>
            </a:r>
            <a:r>
              <a:rPr lang="en-US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¹</a:t>
            </a:r>
            <a:r>
              <a:rPr lang="en-US" altLang="pt-BR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; Luciano Emmert</a:t>
            </a:r>
            <a:r>
              <a:rPr lang="en-US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¹</a:t>
            </a:r>
            <a:r>
              <a:rPr lang="en-US" altLang="pt-BR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,</a:t>
            </a:r>
            <a:r>
              <a:rPr lang="en-US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²</a:t>
            </a:r>
            <a:r>
              <a:rPr lang="en-US" altLang="pt-BR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; Maria Luiza de Azevedo</a:t>
            </a:r>
            <a:r>
              <a:rPr lang="en-US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¹</a:t>
            </a:r>
            <a:r>
              <a:rPr lang="en-US" altLang="pt-BR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; Eric Bastos G</a:t>
            </a:r>
            <a:r>
              <a:rPr lang="en-US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ö</a:t>
            </a:r>
            <a:r>
              <a:rPr lang="en-US" altLang="pt-BR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rgens</a:t>
            </a:r>
            <a:r>
              <a:rPr lang="en-US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¹</a:t>
            </a:r>
            <a:endParaRPr lang="en-US" altLang="en-US" sz="3000" b="1" spc="359">
              <a:solidFill>
                <a:srgbClr val="393939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ctr">
              <a:lnSpc>
                <a:spcPts val="4500"/>
              </a:lnSpc>
            </a:pPr>
            <a:r>
              <a:rPr lang="en-US" altLang="pt-BR" sz="3000" b="1" spc="359" baseline="30000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1 </a:t>
            </a:r>
            <a:r>
              <a:rPr lang="en-US" altLang="pt-BR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Departamento de Engenharia Florestal, Universidade Federal dos Vales do Jequitinhonha e Mucuri (UFVJM)</a:t>
            </a:r>
            <a:r>
              <a:rPr lang="pt-BR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; </a:t>
            </a:r>
            <a:r>
              <a:rPr lang="en-US" altLang="pt-BR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2 Max-Plank institute for biogeochemistry</a:t>
            </a:r>
            <a:r>
              <a:rPr lang="pt-BR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 - </a:t>
            </a:r>
            <a:r>
              <a:rPr lang="pt-BR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*arturfs.engflorestal@gmail.com</a:t>
            </a:r>
            <a:endParaRPr lang="en-US" altLang="pt-BR" sz="3000" b="1" spc="359">
              <a:solidFill>
                <a:srgbClr val="393939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ctr">
              <a:lnSpc>
                <a:spcPts val="4500"/>
              </a:lnSpc>
            </a:pPr>
            <a:r>
              <a:rPr lang="pt-BR" altLang="en-US" sz="3000" b="1" spc="359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 </a:t>
            </a:r>
            <a:endParaRPr lang="pt-BR" altLang="en-US" sz="3000" b="1" spc="359">
              <a:solidFill>
                <a:srgbClr val="393939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82015" y="10105390"/>
            <a:ext cx="14493875" cy="4401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000" b="1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INTRODUÇÃO</a:t>
            </a:r>
            <a:endParaRPr lang="en-US" sz="6500" b="1">
              <a:solidFill>
                <a:srgbClr val="393939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just">
              <a:lnSpc>
                <a:spcPts val="7800"/>
              </a:lnSpc>
            </a:pP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paisagem amazônica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500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 composta por 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manchas 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de vegeta</a:t>
            </a:r>
            <a:r>
              <a:rPr lang="en-US" altLang="en-US" sz="3500">
                <a:latin typeface="Arial" panose="020B0604020202020204" pitchFamily="34" charset="0"/>
                <a:cs typeface="Arial" panose="020B0604020202020204" pitchFamily="34" charset="0"/>
              </a:rPr>
              <a:t>ç</a:t>
            </a:r>
            <a:r>
              <a:rPr lang="en-US" altLang="en-US" sz="3500"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o em diferentes 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altLang="en-US" sz="3500" b="1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gios sucessionais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, resultantes</a:t>
            </a:r>
            <a:r>
              <a:rPr lang="pt-BR" altLang="en-US" sz="35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3500">
                <a:latin typeface="Arial" panose="020B0604020202020204" pitchFamily="34" charset="0"/>
                <a:cs typeface="Arial" panose="020B0604020202020204" pitchFamily="34" charset="0"/>
              </a:rPr>
              <a:t>distúrbios naturais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pt-BR" altLang="en-US" sz="35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500">
                <a:latin typeface="Arial" panose="020B0604020202020204" pitchFamily="34" charset="0"/>
                <a:cs typeface="Arial" panose="020B0604020202020204" pitchFamily="34" charset="0"/>
              </a:rPr>
              <a:t>sucessiva 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recupera</a:t>
            </a:r>
            <a:r>
              <a:rPr lang="en-US" altLang="en-US" sz="3500">
                <a:latin typeface="Arial" panose="020B0604020202020204" pitchFamily="34" charset="0"/>
                <a:cs typeface="Arial" panose="020B0604020202020204" pitchFamily="34" charset="0"/>
              </a:rPr>
              <a:t>ç</a:t>
            </a:r>
            <a:r>
              <a:rPr lang="en-US" altLang="en-US" sz="3500"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o florestal (Chambers et al., 2013).</a:t>
            </a:r>
            <a:endParaRPr lang="en-US" altLang="pt-BR" sz="3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120"/>
              </a:lnSpc>
            </a:pPr>
            <a:endParaRPr sz="3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71220" y="17405350"/>
            <a:ext cx="1469580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000" b="1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MATERIAL E MÉTODOS</a:t>
            </a:r>
            <a:endParaRPr lang="en-US" sz="6000">
              <a:solidFill>
                <a:srgbClr val="39393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943580" y="37207190"/>
            <a:ext cx="16101695" cy="2292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pt-BR" altLang="en-US" sz="6000" b="1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PRINCIPAL </a:t>
            </a:r>
            <a:r>
              <a:rPr lang="en-US" sz="6000" b="1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REFERÊNCIA</a:t>
            </a:r>
            <a:endParaRPr lang="en-US" sz="6000" b="1">
              <a:solidFill>
                <a:srgbClr val="393939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just">
              <a:lnSpc>
                <a:spcPct val="100000"/>
              </a:lnSpc>
            </a:pPr>
            <a:r>
              <a:rPr lang="en-US" altLang="pt-BR" sz="2800">
                <a:latin typeface="Arial" panose="020B0604020202020204" pitchFamily="34" charset="0"/>
                <a:cs typeface="Arial" panose="020B0604020202020204" pitchFamily="34" charset="0"/>
              </a:rPr>
              <a:t>CHAMBERS, </a:t>
            </a:r>
            <a:r>
              <a:rPr lang="pt-BR" altLang="en-US" sz="2800">
                <a:latin typeface="Arial" panose="020B0604020202020204" pitchFamily="34" charset="0"/>
                <a:cs typeface="Arial" panose="020B0604020202020204" pitchFamily="34" charset="0"/>
              </a:rPr>
              <a:t>et. al</a:t>
            </a:r>
            <a:r>
              <a:rPr lang="en-US" altLang="pt-BR" sz="2800">
                <a:latin typeface="Arial" panose="020B0604020202020204" pitchFamily="34" charset="0"/>
                <a:cs typeface="Arial" panose="020B0604020202020204" pitchFamily="34" charset="0"/>
              </a:rPr>
              <a:t>. The steady-state mosaic of disturbance and succession across an old-growth Central Amazon forest landscape. Proceedings of the National Academy of Sciences, v. 110, n. 10, p. 3949-3954, 2013.</a:t>
            </a:r>
            <a:endParaRPr lang="en-US" altLang="pt-BR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71220" y="14218285"/>
            <a:ext cx="14613890" cy="3000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000" b="1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OBJETIVO</a:t>
            </a:r>
            <a:endParaRPr lang="en-US" sz="6500" b="1">
              <a:solidFill>
                <a:srgbClr val="393939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just">
              <a:lnSpc>
                <a:spcPts val="7800"/>
              </a:lnSpc>
              <a:buClrTx/>
              <a:buSzTx/>
              <a:buFontTx/>
            </a:pPr>
            <a:r>
              <a:rPr lang="pt-BR" altLang="en-US" sz="35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500" b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nvestigar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 a capacidade de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n-US" altLang="en-US" sz="3500" b="1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tricas 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LiDAR do 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dossel 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em 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distinguir manchas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 florestais </a:t>
            </a:r>
            <a:r>
              <a:rPr lang="pt-BR" altLang="en-US" sz="3500">
                <a:latin typeface="Arial" panose="020B0604020202020204" pitchFamily="34" charset="0"/>
                <a:cs typeface="Arial" panose="020B0604020202020204" pitchFamily="34" charset="0"/>
              </a:rPr>
              <a:t>em florestas de terra-firme, 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na Amazônia Central.</a:t>
            </a:r>
            <a:endParaRPr lang="en-US" altLang="pt-BR" sz="3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6868775" y="10090150"/>
            <a:ext cx="14702790" cy="180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000" b="1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RESULTADOS E DISCUSSÃO</a:t>
            </a:r>
            <a:endParaRPr lang="en-US" sz="6000" b="1">
              <a:solidFill>
                <a:srgbClr val="393939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just">
              <a:lnSpc>
                <a:spcPts val="3120"/>
              </a:lnSpc>
            </a:pPr>
            <a:endParaRPr lang="pt-BR" sz="35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just">
              <a:lnSpc>
                <a:spcPts val="3120"/>
              </a:lnSpc>
            </a:pPr>
            <a:r>
              <a:rPr lang="pt-BR" sz="35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Foram identificados </a:t>
            </a:r>
            <a:r>
              <a:rPr lang="pt-BR" sz="35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7 grupos distintos </a:t>
            </a:r>
            <a:r>
              <a:rPr lang="en-US" sz="3500" b="1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</a:rPr>
              <a:t>(R² = 0,81; p = 0,004). </a:t>
            </a:r>
            <a:r>
              <a:rPr lang="pt-BR" altLang="en-US" sz="3500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</a:rPr>
              <a:t> </a:t>
            </a:r>
            <a:endParaRPr lang="en-US" altLang="pt-BR" sz="3500">
              <a:solidFill>
                <a:srgbClr val="393939"/>
              </a:solidFill>
              <a:latin typeface="Arial Bold" panose="020B0704020202020204"/>
              <a:ea typeface="Arial Bold" panose="020B0704020202020204"/>
              <a:cs typeface="Arial Bold" panose="020B07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6046450" y="34016950"/>
            <a:ext cx="16137255" cy="2615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000" b="1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CONCLUSÃO</a:t>
            </a:r>
            <a:endParaRPr lang="en-US" sz="6500" b="1">
              <a:solidFill>
                <a:srgbClr val="393939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just">
              <a:lnSpc>
                <a:spcPts val="4200"/>
              </a:lnSpc>
            </a:pP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As 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métricas de estrutura do dossel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 extraídas por LiDAR, 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permitiram separar mosaicos florestais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, e 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parte dos clusters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 revelou padrões 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compatíveis com uma ordem sucessional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.   </a:t>
            </a:r>
            <a:endParaRPr lang="en-US" altLang="pt-BR" sz="350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5943580" y="39925625"/>
            <a:ext cx="16374110" cy="10820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</a:pPr>
            <a:r>
              <a:rPr lang="en-US" sz="6000" b="1">
                <a:solidFill>
                  <a:srgbClr val="393939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AGRADECIMENTOS</a:t>
            </a:r>
            <a:endParaRPr lang="en-US" sz="6000" b="1">
              <a:solidFill>
                <a:srgbClr val="393939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l">
              <a:lnSpc>
                <a:spcPts val="4200"/>
              </a:lnSpc>
            </a:pPr>
            <a:endParaRPr sz="6000"/>
          </a:p>
        </p:txBody>
      </p:sp>
      <p:pic>
        <p:nvPicPr>
          <p:cNvPr id="36" name="Imagem 35" descr="workflow_class_patches_mensuflo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200" y="18592165"/>
            <a:ext cx="12213590" cy="24116030"/>
          </a:xfrm>
          <a:prstGeom prst="rect">
            <a:avLst/>
          </a:prstGeom>
        </p:spPr>
      </p:pic>
      <p:pic>
        <p:nvPicPr>
          <p:cNvPr id="37" name="Google Shape;99;p1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5418868" y="40940097"/>
            <a:ext cx="3259935" cy="1814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00;p1"/>
          <p:cNvPicPr preferRelativeResize="0"/>
          <p:nvPr/>
        </p:nvPicPr>
        <p:blipFill rotWithShape="1">
          <a:blip r:embed="rId9"/>
          <a:srcRect r="11885" b="9205"/>
          <a:stretch>
            <a:fillRect/>
          </a:stretch>
        </p:blipFill>
        <p:spPr>
          <a:xfrm>
            <a:off x="30813866" y="40909612"/>
            <a:ext cx="1568772" cy="1913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Imagem 3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5461" y="41201750"/>
            <a:ext cx="1656548" cy="1321228"/>
          </a:xfrm>
          <a:prstGeom prst="rect">
            <a:avLst/>
          </a:prstGeom>
        </p:spPr>
      </p:pic>
      <p:pic>
        <p:nvPicPr>
          <p:cNvPr id="40" name="Imagem 3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71" b="38151"/>
          <a:stretch>
            <a:fillRect/>
          </a:stretch>
        </p:blipFill>
        <p:spPr>
          <a:xfrm>
            <a:off x="24733133" y="40955506"/>
            <a:ext cx="6274885" cy="1717932"/>
          </a:xfrm>
          <a:prstGeom prst="rect">
            <a:avLst/>
          </a:prstGeom>
        </p:spPr>
      </p:pic>
      <p:pic>
        <p:nvPicPr>
          <p:cNvPr id="41" name="Imagem 40" descr="PCA_clusters"/>
          <p:cNvPicPr>
            <a:picLocks noChangeAspect="1"/>
          </p:cNvPicPr>
          <p:nvPr/>
        </p:nvPicPr>
        <p:blipFill>
          <a:blip r:embed="rId12"/>
          <a:srcRect l="3403" r="3995"/>
          <a:stretch>
            <a:fillRect/>
          </a:stretch>
        </p:blipFill>
        <p:spPr>
          <a:xfrm>
            <a:off x="14296390" y="20716875"/>
            <a:ext cx="10436860" cy="9784080"/>
          </a:xfrm>
          <a:prstGeom prst="rect">
            <a:avLst/>
          </a:prstGeom>
        </p:spPr>
      </p:pic>
      <p:sp>
        <p:nvSpPr>
          <p:cNvPr id="42" name="Caixa de Texto 41"/>
          <p:cNvSpPr txBox="1"/>
          <p:nvPr/>
        </p:nvSpPr>
        <p:spPr>
          <a:xfrm>
            <a:off x="16046450" y="31883350"/>
            <a:ext cx="16137255" cy="2134235"/>
          </a:xfrm>
          <a:prstGeom prst="rect">
            <a:avLst/>
          </a:prstGeom>
        </p:spPr>
        <p:txBody>
          <a:bodyPr>
            <a:noAutofit/>
          </a:bodyPr>
          <a:p>
            <a:pPr algn="just" defTabSz="444500">
              <a:lnSpc>
                <a:spcPct val="115000"/>
              </a:lnSpc>
            </a:pPr>
            <a:r>
              <a:rPr lang="pt-BR" altLang="en-US" sz="35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Uma possível 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sequência</a:t>
            </a:r>
            <a:r>
              <a:rPr lang="pt-BR" altLang="en-US" sz="35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os 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estágios iniciais a</a:t>
            </a:r>
            <a:r>
              <a:rPr lang="pt-BR" altLang="en-US" sz="3500" b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 mais avançados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3, 1, 4, 6, 5, 2 e 7.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en-US" sz="3500">
                <a:latin typeface="Arial" panose="020B0604020202020204" pitchFamily="34" charset="0"/>
                <a:cs typeface="Arial" panose="020B0604020202020204" pitchFamily="34" charset="0"/>
              </a:rPr>
              <a:t>Refletindo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gradiente crescente </a:t>
            </a:r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n-US" altLang="pt-BR" sz="3500" b="1">
                <a:latin typeface="Arial" panose="020B0604020202020204" pitchFamily="34" charset="0"/>
                <a:cs typeface="Arial" panose="020B0604020202020204" pitchFamily="34" charset="0"/>
              </a:rPr>
              <a:t>cobertura, altura e rugosidade do dossel.</a:t>
            </a:r>
            <a:r>
              <a:rPr lang="pt-BR" altLang="en-US" sz="35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altLang="en-US" sz="35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3" name="Tabela 42"/>
          <p:cNvGraphicFramePr/>
          <p:nvPr>
            <p:custDataLst>
              <p:tags r:id="rId13"/>
            </p:custDataLst>
          </p:nvPr>
        </p:nvGraphicFramePr>
        <p:xfrm>
          <a:off x="16614775" y="12604750"/>
          <a:ext cx="15354300" cy="7129780"/>
        </p:xfrm>
        <a:graphic>
          <a:graphicData uri="http://schemas.openxmlformats.org/drawingml/2006/table">
            <a:tbl>
              <a:tblPr/>
              <a:tblGrid>
                <a:gridCol w="1392555"/>
                <a:gridCol w="1991995"/>
                <a:gridCol w="1933575"/>
                <a:gridCol w="1494790"/>
                <a:gridCol w="2643505"/>
                <a:gridCol w="1491615"/>
                <a:gridCol w="2644140"/>
                <a:gridCol w="1762125"/>
              </a:tblGrid>
              <a:tr h="401955"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Clusters</a:t>
                      </a:r>
                      <a:endParaRPr sz="2400" b="1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br>
                        <a:rPr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</a:br>
                      <a:endParaRPr sz="2400" b="1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 n</a:t>
                      </a:r>
                      <a:br>
                        <a:rPr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</a:br>
                      <a:r>
                        <a:rPr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 Pixels</a:t>
                      </a:r>
                      <a:endParaRPr sz="2400" b="1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BR"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Altura relativa</a:t>
                      </a:r>
                      <a:endParaRPr lang="pt-BR" sz="2400" b="1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b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BR"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Rugosidade </a:t>
                      </a:r>
                      <a:r>
                        <a:rPr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rel</a:t>
                      </a:r>
                      <a:r>
                        <a:rPr lang="pt-BR"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ativa</a:t>
                      </a:r>
                      <a:endParaRPr lang="pt-BR" sz="2400" b="1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b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BR"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Cobertura Relativa</a:t>
                      </a:r>
                      <a:endParaRPr lang="pt-BR" sz="2400" b="1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b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600200">
                <a:tc vMerge="1">
                  <a:tcPr>
                    <a:lnL>
                      <a:noFill/>
                    </a:lnL>
                    <a:lnR>
                      <a:noFill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cPr>
                    <a:lnL>
                      <a:noFill/>
                    </a:lnL>
                    <a:lnR>
                      <a:noFill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Média</a:t>
                      </a:r>
                      <a:endParaRPr sz="2400" b="1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Desvio Padrão</a:t>
                      </a:r>
                      <a:endParaRPr sz="2400" b="1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Média</a:t>
                      </a:r>
                      <a:endParaRPr sz="2400" b="1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Desvio Padrão</a:t>
                      </a:r>
                      <a:endParaRPr sz="2400" b="1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Média</a:t>
                      </a:r>
                      <a:endParaRPr sz="2400" b="1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Desvio Padrão</a:t>
                      </a:r>
                      <a:endParaRPr sz="2400" b="1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997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1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58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t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0,963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0,057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0,435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0,166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0,943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0,089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7994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2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3722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0,920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0,025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0,993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0,016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1,000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0,004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611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3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326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0,688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0,106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0,720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0,093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0,954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0,066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994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4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1265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0,955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0,051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0,790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0,049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0,981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0,035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1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5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1238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0,828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0,045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0,953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0,052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0,997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0,013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073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6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2991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0,989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0,022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0,908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0,030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0,996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0,014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073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17089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0,997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0,009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0,997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0,009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1,000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/>
                        </a:rPr>
                        <a:t>0,003</a:t>
                      </a:r>
                      <a:endParaRPr sz="240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/>
                      </a:endParaRPr>
                    </a:p>
                  </a:txBody>
                  <a:tcPr marL="38100" marR="3810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4" name="Imagem 4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8250" y="41103550"/>
            <a:ext cx="3449955" cy="1810385"/>
          </a:xfrm>
          <a:prstGeom prst="rect">
            <a:avLst/>
          </a:prstGeom>
        </p:spPr>
      </p:pic>
      <p:pic>
        <p:nvPicPr>
          <p:cNvPr id="45" name="Imagem 44" descr="ATTO_clusters_map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733250" y="20377150"/>
            <a:ext cx="7539990" cy="107022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209*558"/>
  <p:tag name="TABLE_ENDDRAG_RECT" val="1308*992*1209*55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1922</Words>
  <Application>WPS Presentation</Application>
  <PresentationFormat>On-screen Show (4:3)</PresentationFormat>
  <Paragraphs>178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Roboto Condensed Bold</vt:lpstr>
      <vt:lpstr>Arial Bold</vt:lpstr>
      <vt:lpstr>Arial</vt:lpstr>
      <vt:lpstr>Times New Roman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VII MENSUFLOR</dc:title>
  <dc:creator/>
  <cp:lastModifiedBy>artur</cp:lastModifiedBy>
  <cp:revision>3</cp:revision>
  <dcterms:created xsi:type="dcterms:W3CDTF">2006-08-16T00:00:00Z</dcterms:created>
  <dcterms:modified xsi:type="dcterms:W3CDTF">2025-10-03T18:34:00Z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F8ACA1A5E215492F81E236254855DE23_12</vt:lpwstr>
  </property>
  <property fmtid="{D5CDD505-2E9C-101B-9397-08002B2CF9AE}" pid="3" name="KSOProductBuildVer">
    <vt:lpwstr>1046-12.2.0.22549</vt:lpwstr>
  </property>
</Properties>
</file>